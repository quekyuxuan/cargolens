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6" r:id="rId6"/>
    <p:sldId id="260"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Rectangle 1"/>
          <p:cNvSpPr/>
          <p:nvPr/>
        </p:nvSpPr>
        <p:spPr>
          <a:xfrm>
            <a:off x="0" y="5394960"/>
            <a:ext cx="12191695" cy="1463040"/>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828800"/>
            <a:ext cx="10972800" cy="914400"/>
          </a:xfrm>
          <a:prstGeom prst="rect">
            <a:avLst/>
          </a:prstGeom>
          <a:noFill/>
        </p:spPr>
        <p:txBody>
          <a:bodyPr wrap="square">
            <a:spAutoFit/>
          </a:bodyPr>
          <a:lstStyle/>
          <a:p>
            <a:pPr algn="l">
              <a:spcAft>
                <a:spcPts val="600"/>
              </a:spcAft>
            </a:pPr>
            <a:r>
              <a:rPr sz="5400" b="1">
                <a:solidFill>
                  <a:srgbClr val="FFFFFF"/>
                </a:solidFill>
                <a:latin typeface="Calibri"/>
              </a:rPr>
              <a:t>CargoLens</a:t>
            </a:r>
          </a:p>
        </p:txBody>
      </p:sp>
      <p:sp>
        <p:nvSpPr>
          <p:cNvPr id="4" name="TextBox 3"/>
          <p:cNvSpPr txBox="1"/>
          <p:nvPr/>
        </p:nvSpPr>
        <p:spPr>
          <a:xfrm>
            <a:off x="640080" y="2834640"/>
            <a:ext cx="10058400" cy="914400"/>
          </a:xfrm>
          <a:prstGeom prst="rect">
            <a:avLst/>
          </a:prstGeom>
          <a:noFill/>
        </p:spPr>
        <p:txBody>
          <a:bodyPr wrap="square">
            <a:spAutoFit/>
          </a:bodyPr>
          <a:lstStyle/>
          <a:p>
            <a:pPr algn="l">
              <a:spcAft>
                <a:spcPts val="600"/>
              </a:spcAft>
            </a:pPr>
            <a:r>
              <a:rPr sz="2000" b="0">
                <a:solidFill>
                  <a:srgbClr val="FFFFFF"/>
                </a:solidFill>
                <a:latin typeface="Calibri"/>
              </a:rPr>
              <a:t>SI vs Bill of Lading discrepancy report for a mixed shipping mailbox</a:t>
            </a:r>
          </a:p>
        </p:txBody>
      </p:sp>
      <p:sp>
        <p:nvSpPr>
          <p:cNvPr id="5" name="TextBox 4"/>
          <p:cNvSpPr txBox="1"/>
          <p:nvPr/>
        </p:nvSpPr>
        <p:spPr>
          <a:xfrm>
            <a:off x="640080" y="5623560"/>
            <a:ext cx="10972800" cy="914400"/>
          </a:xfrm>
          <a:prstGeom prst="rect">
            <a:avLst/>
          </a:prstGeom>
          <a:noFill/>
        </p:spPr>
        <p:txBody>
          <a:bodyPr wrap="square">
            <a:spAutoFit/>
          </a:bodyPr>
          <a:lstStyle/>
          <a:p>
            <a:pPr algn="l">
              <a:spcAft>
                <a:spcPts val="600"/>
              </a:spcAft>
            </a:pPr>
            <a:r>
              <a:rPr sz="1600" b="1">
                <a:solidFill>
                  <a:srgbClr val="FFFFFF"/>
                </a:solidFill>
                <a:latin typeface="Calibri"/>
              </a:rPr>
              <a:t>Averis × Monash Hackathon 2026</a:t>
            </a:r>
          </a:p>
          <a:p>
            <a:pPr algn="l">
              <a:spcAft>
                <a:spcPts val="600"/>
              </a:spcAft>
            </a:pPr>
            <a:r>
              <a:rPr sz="1400" b="0">
                <a:solidFill>
                  <a:srgbClr val="FFFFFF"/>
                </a:solidFill>
                <a:latin typeface="Calibri"/>
              </a:rPr>
              <a:t>Live: cargolens-peach.vercel.app  ·  github.com/quekyuxuan/cargolens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0972800" cy="502920"/>
          </a:xfrm>
          <a:prstGeom prst="rect">
            <a:avLst/>
          </a:prstGeom>
          <a:noFill/>
        </p:spPr>
        <p:txBody>
          <a:bodyPr wrap="square">
            <a:spAutoFit/>
          </a:bodyPr>
          <a:lstStyle/>
          <a:p>
            <a:pPr algn="l">
              <a:spcAft>
                <a:spcPts val="600"/>
              </a:spcAft>
            </a:pPr>
            <a:r>
              <a:rPr sz="2800" b="1">
                <a:solidFill>
                  <a:srgbClr val="FFFFFF"/>
                </a:solidFill>
                <a:latin typeface="Calibri"/>
              </a:rPr>
              <a:t>The Problem</a:t>
            </a:r>
          </a:p>
        </p:txBody>
      </p:sp>
      <p:sp>
        <p:nvSpPr>
          <p:cNvPr id="4" name="TextBox 3"/>
          <p:cNvSpPr txBox="1"/>
          <p:nvPr/>
        </p:nvSpPr>
        <p:spPr>
          <a:xfrm>
            <a:off x="457200" y="1234440"/>
            <a:ext cx="10972800" cy="365760"/>
          </a:xfrm>
          <a:prstGeom prst="rect">
            <a:avLst/>
          </a:prstGeom>
          <a:noFill/>
        </p:spPr>
        <p:txBody>
          <a:bodyPr wrap="square">
            <a:spAutoFit/>
          </a:bodyPr>
          <a:lstStyle/>
          <a:p>
            <a:pPr algn="l">
              <a:spcAft>
                <a:spcPts val="600"/>
              </a:spcAft>
            </a:pPr>
            <a:r>
              <a:rPr sz="1400" b="0">
                <a:solidFill>
                  <a:srgbClr val="4A5568"/>
                </a:solidFill>
                <a:latin typeface="Calibri"/>
              </a:rPr>
              <a:t>Who it affects and why it matters</a:t>
            </a:r>
          </a:p>
        </p:txBody>
      </p:sp>
      <p:sp>
        <p:nvSpPr>
          <p:cNvPr id="5" name="TextBox 4"/>
          <p:cNvSpPr txBox="1"/>
          <p:nvPr/>
        </p:nvSpPr>
        <p:spPr>
          <a:xfrm>
            <a:off x="548640" y="1737360"/>
            <a:ext cx="10972800" cy="3693319"/>
          </a:xfrm>
          <a:prstGeom prst="rect">
            <a:avLst/>
          </a:prstGeom>
          <a:noFill/>
        </p:spPr>
        <p:txBody>
          <a:bodyPr wrap="square">
            <a:spAutoFit/>
          </a:bodyPr>
          <a:lstStyle/>
          <a:p>
            <a:pPr algn="just"/>
            <a:r>
              <a:rPr lang="en-MY" dirty="0"/>
              <a:t>A shipping documentation clerk opens a shared mailbox that mixes five kinds of request. Only some of them are "check my draft bill of lading against my shipping instruction". For those, a person reads two documents side by side and confirms seven fields: shipper, consignee, notify party, port of loading, port of discharge, container count, gross weight.</a:t>
            </a:r>
          </a:p>
          <a:p>
            <a:pPr algn="just"/>
            <a:endParaRPr lang="en-MY" dirty="0"/>
          </a:p>
          <a:p>
            <a:pPr algn="just"/>
            <a:r>
              <a:rPr lang="en-MY" dirty="0"/>
              <a:t>Why it matters: a wrong consignee or port on a bill of lading is discovered at the destination, not in the mailbox. The fix then involves the carrier, an amendment fee, and a delayed release. The clerk is the last checkpoint, and the check is manual, repetitive, and easy to rush.</a:t>
            </a:r>
          </a:p>
          <a:p>
            <a:pPr algn="just"/>
            <a:endParaRPr lang="en-MY" dirty="0"/>
          </a:p>
          <a:p>
            <a:pPr algn="just"/>
            <a:r>
              <a:rPr lang="en-MY" dirty="0"/>
              <a:t>Who it affects: documentation teams at the forwarder, the shipper who sent the instruction, and the consignee waiting for cargo release.</a:t>
            </a:r>
          </a:p>
          <a:p>
            <a:pPr algn="just"/>
            <a:endParaRPr lang="en-MY" dirty="0"/>
          </a:p>
          <a:p>
            <a:pPr algn="just"/>
            <a:r>
              <a:rPr lang="en-MY" dirty="0"/>
              <a:t>Scale in the provided dataset: </a:t>
            </a:r>
            <a:r>
              <a:rPr lang="en-MY" b="1" dirty="0"/>
              <a:t>520 emails, 250 attachments, 220 genuine comparison requests.</a:t>
            </a:r>
            <a:endParaRPr lang="en-MY"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0972800" cy="502920"/>
          </a:xfrm>
          <a:prstGeom prst="rect">
            <a:avLst/>
          </a:prstGeom>
          <a:noFill/>
        </p:spPr>
        <p:txBody>
          <a:bodyPr wrap="square">
            <a:spAutoFit/>
          </a:bodyPr>
          <a:lstStyle/>
          <a:p>
            <a:pPr algn="l">
              <a:spcAft>
                <a:spcPts val="600"/>
              </a:spcAft>
            </a:pPr>
            <a:r>
              <a:rPr sz="2800" b="1">
                <a:solidFill>
                  <a:srgbClr val="FFFFFF"/>
                </a:solidFill>
                <a:latin typeface="Calibri"/>
              </a:rPr>
              <a:t>What CargoLens Does</a:t>
            </a:r>
          </a:p>
        </p:txBody>
      </p:sp>
      <p:sp>
        <p:nvSpPr>
          <p:cNvPr id="4" name="TextBox 3"/>
          <p:cNvSpPr txBox="1"/>
          <p:nvPr/>
        </p:nvSpPr>
        <p:spPr>
          <a:xfrm>
            <a:off x="457200" y="1234440"/>
            <a:ext cx="10972800" cy="365760"/>
          </a:xfrm>
          <a:prstGeom prst="rect">
            <a:avLst/>
          </a:prstGeom>
          <a:noFill/>
        </p:spPr>
        <p:txBody>
          <a:bodyPr wrap="square">
            <a:spAutoFit/>
          </a:bodyPr>
          <a:lstStyle/>
          <a:p>
            <a:pPr algn="l">
              <a:spcAft>
                <a:spcPts val="600"/>
              </a:spcAft>
            </a:pPr>
            <a:r>
              <a:rPr sz="1400" b="0">
                <a:solidFill>
                  <a:srgbClr val="4A5568"/>
                </a:solidFill>
                <a:latin typeface="Calibri"/>
              </a:rPr>
              <a:t>Three outcomes — never a guess</a:t>
            </a:r>
          </a:p>
        </p:txBody>
      </p:sp>
      <p:sp>
        <p:nvSpPr>
          <p:cNvPr id="5" name="TextBox 4"/>
          <p:cNvSpPr txBox="1"/>
          <p:nvPr/>
        </p:nvSpPr>
        <p:spPr>
          <a:xfrm>
            <a:off x="548640" y="1691640"/>
            <a:ext cx="10972800" cy="731520"/>
          </a:xfrm>
          <a:prstGeom prst="rect">
            <a:avLst/>
          </a:prstGeom>
          <a:noFill/>
        </p:spPr>
        <p:txBody>
          <a:bodyPr wrap="square">
            <a:spAutoFit/>
          </a:bodyPr>
          <a:lstStyle/>
          <a:p>
            <a:pPr algn="l">
              <a:spcAft>
                <a:spcPts val="600"/>
              </a:spcAft>
            </a:pPr>
            <a:r>
              <a:rPr sz="1800" b="1">
                <a:solidFill>
                  <a:srgbClr val="1A6B6B"/>
                </a:solidFill>
                <a:latin typeface="Calibri"/>
              </a:rPr>
              <a:t>mailbox → classify → extract 7 fields → compare → OK / MISMATCH / Pending</a:t>
            </a:r>
          </a:p>
        </p:txBody>
      </p:sp>
      <p:sp>
        <p:nvSpPr>
          <p:cNvPr id="6" name="Rectangle 5"/>
          <p:cNvSpPr/>
          <p:nvPr/>
        </p:nvSpPr>
        <p:spPr>
          <a:xfrm>
            <a:off x="548640" y="2560320"/>
            <a:ext cx="2560320" cy="64008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724912"/>
            <a:ext cx="2286000" cy="365760"/>
          </a:xfrm>
          <a:prstGeom prst="rect">
            <a:avLst/>
          </a:prstGeom>
          <a:noFill/>
        </p:spPr>
        <p:txBody>
          <a:bodyPr wrap="square">
            <a:spAutoFit/>
          </a:bodyPr>
          <a:lstStyle/>
          <a:p>
            <a:pPr algn="l">
              <a:spcAft>
                <a:spcPts val="600"/>
              </a:spcAft>
            </a:pPr>
            <a:r>
              <a:rPr sz="1400" b="1">
                <a:solidFill>
                  <a:srgbClr val="FFFFFF"/>
                </a:solidFill>
                <a:latin typeface="Calibri"/>
              </a:rPr>
              <a:t>Comparison OK</a:t>
            </a:r>
          </a:p>
        </p:txBody>
      </p:sp>
      <p:sp>
        <p:nvSpPr>
          <p:cNvPr id="8" name="TextBox 7"/>
          <p:cNvSpPr txBox="1"/>
          <p:nvPr/>
        </p:nvSpPr>
        <p:spPr>
          <a:xfrm>
            <a:off x="3291840" y="2724912"/>
            <a:ext cx="7772400" cy="365760"/>
          </a:xfrm>
          <a:prstGeom prst="rect">
            <a:avLst/>
          </a:prstGeom>
          <a:noFill/>
        </p:spPr>
        <p:txBody>
          <a:bodyPr wrap="square">
            <a:spAutoFit/>
          </a:bodyPr>
          <a:lstStyle/>
          <a:p>
            <a:pPr algn="l">
              <a:spcAft>
                <a:spcPts val="600"/>
              </a:spcAft>
            </a:pPr>
            <a:r>
              <a:rPr sz="1600" b="0">
                <a:solidFill>
                  <a:srgbClr val="1C1C1C"/>
                </a:solidFill>
                <a:latin typeface="Calibri"/>
              </a:rPr>
              <a:t>All comparable fields agree</a:t>
            </a:r>
          </a:p>
        </p:txBody>
      </p:sp>
      <p:sp>
        <p:nvSpPr>
          <p:cNvPr id="9" name="Rectangle 8"/>
          <p:cNvSpPr/>
          <p:nvPr/>
        </p:nvSpPr>
        <p:spPr>
          <a:xfrm>
            <a:off x="548640" y="3429000"/>
            <a:ext cx="2560320" cy="64008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3593592"/>
            <a:ext cx="2286000" cy="365760"/>
          </a:xfrm>
          <a:prstGeom prst="rect">
            <a:avLst/>
          </a:prstGeom>
          <a:noFill/>
        </p:spPr>
        <p:txBody>
          <a:bodyPr wrap="square">
            <a:spAutoFit/>
          </a:bodyPr>
          <a:lstStyle/>
          <a:p>
            <a:pPr algn="l">
              <a:spcAft>
                <a:spcPts val="600"/>
              </a:spcAft>
            </a:pPr>
            <a:r>
              <a:rPr sz="1400" b="1">
                <a:solidFill>
                  <a:srgbClr val="FFFFFF"/>
                </a:solidFill>
                <a:latin typeface="Calibri"/>
              </a:rPr>
              <a:t>MISMATCH</a:t>
            </a:r>
          </a:p>
        </p:txBody>
      </p:sp>
      <p:sp>
        <p:nvSpPr>
          <p:cNvPr id="11" name="TextBox 10"/>
          <p:cNvSpPr txBox="1"/>
          <p:nvPr/>
        </p:nvSpPr>
        <p:spPr>
          <a:xfrm>
            <a:off x="3291840" y="3593592"/>
            <a:ext cx="7772400" cy="365760"/>
          </a:xfrm>
          <a:prstGeom prst="rect">
            <a:avLst/>
          </a:prstGeom>
          <a:noFill/>
        </p:spPr>
        <p:txBody>
          <a:bodyPr wrap="square">
            <a:spAutoFit/>
          </a:bodyPr>
          <a:lstStyle/>
          <a:p>
            <a:pPr algn="l">
              <a:spcAft>
                <a:spcPts val="600"/>
              </a:spcAft>
            </a:pPr>
            <a:r>
              <a:rPr sz="1600" b="0">
                <a:solidFill>
                  <a:srgbClr val="1C1C1C"/>
                </a:solidFill>
                <a:latin typeface="Calibri"/>
              </a:rPr>
              <a:t>Named fields disagree, shown side by side</a:t>
            </a:r>
          </a:p>
        </p:txBody>
      </p:sp>
      <p:sp>
        <p:nvSpPr>
          <p:cNvPr id="12" name="Rectangle 11"/>
          <p:cNvSpPr/>
          <p:nvPr/>
        </p:nvSpPr>
        <p:spPr>
          <a:xfrm>
            <a:off x="548640" y="4297680"/>
            <a:ext cx="2560320" cy="64008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4462272"/>
            <a:ext cx="2286000" cy="365760"/>
          </a:xfrm>
          <a:prstGeom prst="rect">
            <a:avLst/>
          </a:prstGeom>
          <a:noFill/>
        </p:spPr>
        <p:txBody>
          <a:bodyPr wrap="square">
            <a:spAutoFit/>
          </a:bodyPr>
          <a:lstStyle/>
          <a:p>
            <a:pPr algn="l">
              <a:spcAft>
                <a:spcPts val="600"/>
              </a:spcAft>
            </a:pPr>
            <a:r>
              <a:rPr sz="1400" b="1">
                <a:solidFill>
                  <a:srgbClr val="FFFFFF"/>
                </a:solidFill>
                <a:latin typeface="Calibri"/>
              </a:rPr>
              <a:t>Pending</a:t>
            </a:r>
          </a:p>
        </p:txBody>
      </p:sp>
      <p:sp>
        <p:nvSpPr>
          <p:cNvPr id="14" name="TextBox 13"/>
          <p:cNvSpPr txBox="1"/>
          <p:nvPr/>
        </p:nvSpPr>
        <p:spPr>
          <a:xfrm>
            <a:off x="3291840" y="4462272"/>
            <a:ext cx="7772400" cy="365760"/>
          </a:xfrm>
          <a:prstGeom prst="rect">
            <a:avLst/>
          </a:prstGeom>
          <a:noFill/>
        </p:spPr>
        <p:txBody>
          <a:bodyPr wrap="square">
            <a:spAutoFit/>
          </a:bodyPr>
          <a:lstStyle/>
          <a:p>
            <a:pPr algn="l">
              <a:spcAft>
                <a:spcPts val="600"/>
              </a:spcAft>
            </a:pPr>
            <a:r>
              <a:rPr sz="1600" b="0">
                <a:solidFill>
                  <a:srgbClr val="1C1C1C"/>
                </a:solidFill>
                <a:latin typeface="Calibri"/>
              </a:rPr>
              <a:t>Wrong type, missing file, unreadable, or blank required value</a:t>
            </a:r>
          </a:p>
        </p:txBody>
      </p:sp>
      <p:sp>
        <p:nvSpPr>
          <p:cNvPr id="15" name="TextBox 14"/>
          <p:cNvSpPr txBox="1"/>
          <p:nvPr/>
        </p:nvSpPr>
        <p:spPr>
          <a:xfrm>
            <a:off x="548640" y="5943600"/>
            <a:ext cx="10972800" cy="365760"/>
          </a:xfrm>
          <a:prstGeom prst="rect">
            <a:avLst/>
          </a:prstGeom>
          <a:noFill/>
        </p:spPr>
        <p:txBody>
          <a:bodyPr wrap="square">
            <a:spAutoFit/>
          </a:bodyPr>
          <a:lstStyle/>
          <a:p>
            <a:pPr algn="l">
              <a:spcAft>
                <a:spcPts val="600"/>
              </a:spcAft>
            </a:pPr>
            <a:r>
              <a:rPr sz="1600" b="1">
                <a:solidFill>
                  <a:srgbClr val="C45C26"/>
                </a:solidFill>
                <a:latin typeface="Calibri"/>
              </a:rPr>
              <a:t>On 520 emails: 154 OK · 46 mismatch · 20 pending · 300 other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0972800" cy="502920"/>
          </a:xfrm>
          <a:prstGeom prst="rect">
            <a:avLst/>
          </a:prstGeom>
          <a:noFill/>
        </p:spPr>
        <p:txBody>
          <a:bodyPr wrap="square">
            <a:spAutoFit/>
          </a:bodyPr>
          <a:lstStyle/>
          <a:p>
            <a:pPr algn="l">
              <a:spcAft>
                <a:spcPts val="600"/>
              </a:spcAft>
            </a:pPr>
            <a:r>
              <a:rPr sz="2800" b="1">
                <a:solidFill>
                  <a:srgbClr val="FFFFFF"/>
                </a:solidFill>
                <a:latin typeface="Calibri"/>
              </a:rPr>
              <a:t>Technical Architecture</a:t>
            </a:r>
          </a:p>
        </p:txBody>
      </p:sp>
      <p:sp>
        <p:nvSpPr>
          <p:cNvPr id="4" name="TextBox 3"/>
          <p:cNvSpPr txBox="1"/>
          <p:nvPr/>
        </p:nvSpPr>
        <p:spPr>
          <a:xfrm>
            <a:off x="2117558" y="1234440"/>
            <a:ext cx="9312442" cy="4108817"/>
          </a:xfrm>
          <a:prstGeom prst="rect">
            <a:avLst/>
          </a:prstGeom>
          <a:noFill/>
        </p:spPr>
        <p:txBody>
          <a:bodyPr wrap="square">
            <a:spAutoFit/>
          </a:bodyPr>
          <a:lstStyle/>
          <a:p>
            <a:pPr>
              <a:spcAft>
                <a:spcPts val="600"/>
              </a:spcAft>
            </a:pPr>
            <a:r>
              <a:rPr lang="en-MY" sz="1400" dirty="0">
                <a:solidFill>
                  <a:srgbClr val="4A5568"/>
                </a:solidFill>
              </a:rPr>
              <a:t>                                                           ┌──────────────────────────────┐</a:t>
            </a:r>
          </a:p>
          <a:p>
            <a:pPr>
              <a:spcAft>
                <a:spcPts val="600"/>
              </a:spcAft>
            </a:pPr>
            <a:r>
              <a:rPr lang="en-MY" sz="1400" dirty="0">
                <a:solidFill>
                  <a:srgbClr val="4A5568"/>
                </a:solidFill>
              </a:rPr>
              <a:t>  organizer bundle              ────▶│  Python engine                                      │</a:t>
            </a:r>
          </a:p>
          <a:p>
            <a:pPr>
              <a:spcAft>
                <a:spcPts val="600"/>
              </a:spcAft>
            </a:pPr>
            <a:r>
              <a:rPr lang="en-MY" sz="1400" dirty="0">
                <a:solidFill>
                  <a:srgbClr val="4A5568"/>
                </a:solidFill>
              </a:rPr>
              <a:t>  or Demo page upload                  │  loader → classify → extract               │──▶ </a:t>
            </a:r>
            <a:r>
              <a:rPr lang="en-MY" sz="1400" dirty="0" err="1">
                <a:solidFill>
                  <a:srgbClr val="4A5568"/>
                </a:solidFill>
              </a:rPr>
              <a:t>results.json</a:t>
            </a:r>
            <a:endParaRPr lang="en-MY" sz="1400" dirty="0">
              <a:solidFill>
                <a:srgbClr val="4A5568"/>
              </a:solidFill>
            </a:endParaRPr>
          </a:p>
          <a:p>
            <a:pPr>
              <a:spcAft>
                <a:spcPts val="600"/>
              </a:spcAft>
            </a:pPr>
            <a:r>
              <a:rPr lang="en-MY" sz="1400" dirty="0">
                <a:solidFill>
                  <a:srgbClr val="4A5568"/>
                </a:solidFill>
              </a:rPr>
              <a:t>  or clerk upload                              │  → normalise → compare                    │        </a:t>
            </a:r>
            <a:r>
              <a:rPr lang="en-MY" sz="1400" dirty="0" err="1">
                <a:solidFill>
                  <a:srgbClr val="4A5568"/>
                </a:solidFill>
              </a:rPr>
              <a:t>submission.json</a:t>
            </a:r>
            <a:endParaRPr lang="en-MY" sz="1400" dirty="0">
              <a:solidFill>
                <a:srgbClr val="4A5568"/>
              </a:solidFill>
            </a:endParaRPr>
          </a:p>
          <a:p>
            <a:pPr>
              <a:spcAft>
                <a:spcPts val="600"/>
              </a:spcAft>
            </a:pPr>
            <a:r>
              <a:rPr lang="en-MY" sz="1400" dirty="0">
                <a:solidFill>
                  <a:srgbClr val="4A5568"/>
                </a:solidFill>
              </a:rPr>
              <a:t>                                                           └───────────┬─────────────────┘</a:t>
            </a:r>
          </a:p>
          <a:p>
            <a:pPr>
              <a:spcAft>
                <a:spcPts val="600"/>
              </a:spcAft>
            </a:pPr>
            <a:r>
              <a:rPr lang="en-MY" sz="1400" dirty="0">
                <a:solidFill>
                  <a:srgbClr val="4A5568"/>
                </a:solidFill>
              </a:rPr>
              <a:t>                                                                                      │ (no text layer, opt-in only)</a:t>
            </a:r>
          </a:p>
          <a:p>
            <a:pPr>
              <a:spcAft>
                <a:spcPts val="600"/>
              </a:spcAft>
            </a:pPr>
            <a:r>
              <a:rPr lang="en-MY" sz="1400" dirty="0">
                <a:solidFill>
                  <a:srgbClr val="4A5568"/>
                </a:solidFill>
              </a:rPr>
              <a:t>                                                                                     ▼</a:t>
            </a:r>
          </a:p>
          <a:p>
            <a:pPr>
              <a:spcAft>
                <a:spcPts val="600"/>
              </a:spcAft>
            </a:pPr>
            <a:r>
              <a:rPr lang="en-MY" sz="1400" dirty="0">
                <a:solidFill>
                  <a:srgbClr val="4A5568"/>
                </a:solidFill>
              </a:rPr>
              <a:t>                                                              Gemini 3.6 Flash (vision)</a:t>
            </a:r>
          </a:p>
          <a:p>
            <a:pPr>
              <a:spcAft>
                <a:spcPts val="600"/>
              </a:spcAft>
            </a:pPr>
            <a:r>
              <a:rPr lang="en-MY" sz="1400" dirty="0">
                <a:solidFill>
                  <a:srgbClr val="4A5568"/>
                </a:solidFill>
              </a:rPr>
              <a:t>                                                              reads fields · never judges</a:t>
            </a:r>
          </a:p>
          <a:p>
            <a:pPr>
              <a:spcAft>
                <a:spcPts val="600"/>
              </a:spcAft>
            </a:pPr>
            <a:endParaRPr lang="en-MY" sz="1400" dirty="0">
              <a:solidFill>
                <a:srgbClr val="4A5568"/>
              </a:solidFill>
            </a:endParaRPr>
          </a:p>
          <a:p>
            <a:pPr>
              <a:spcAft>
                <a:spcPts val="600"/>
              </a:spcAft>
            </a:pPr>
            <a:r>
              <a:rPr lang="en-MY" sz="1400" dirty="0">
                <a:solidFill>
                  <a:srgbClr val="4A5568"/>
                </a:solidFill>
              </a:rPr>
              <a:t>  </a:t>
            </a:r>
            <a:r>
              <a:rPr lang="en-MY" sz="1400" dirty="0" err="1">
                <a:solidFill>
                  <a:srgbClr val="4A5568"/>
                </a:solidFill>
              </a:rPr>
              <a:t>results.json</a:t>
            </a:r>
            <a:r>
              <a:rPr lang="en-MY" sz="1400" dirty="0">
                <a:solidFill>
                  <a:srgbClr val="4A5568"/>
                </a:solidFill>
              </a:rPr>
              <a:t> ──▶ Next.js on </a:t>
            </a:r>
            <a:r>
              <a:rPr lang="en-MY" sz="1400" dirty="0" err="1">
                <a:solidFill>
                  <a:srgbClr val="4A5568"/>
                </a:solidFill>
              </a:rPr>
              <a:t>Vercel</a:t>
            </a:r>
            <a:r>
              <a:rPr lang="en-MY" sz="1400" dirty="0">
                <a:solidFill>
                  <a:srgbClr val="4A5568"/>
                </a:solidFill>
              </a:rPr>
              <a:t> ──▶ Inbox · Pending Review · Reviewed · Reminders · Demo</a:t>
            </a:r>
          </a:p>
          <a:p>
            <a:pPr>
              <a:spcAft>
                <a:spcPts val="600"/>
              </a:spcAft>
            </a:pPr>
            <a:r>
              <a:rPr lang="en-MY" sz="1400" dirty="0">
                <a:solidFill>
                  <a:srgbClr val="4A5568"/>
                </a:solidFill>
              </a:rPr>
              <a:t>                                             │</a:t>
            </a:r>
          </a:p>
          <a:p>
            <a:pPr>
              <a:spcAft>
                <a:spcPts val="600"/>
              </a:spcAft>
            </a:pPr>
            <a:r>
              <a:rPr lang="en-MY" sz="1400" dirty="0">
                <a:solidFill>
                  <a:srgbClr val="4A5568"/>
                </a:solidFill>
              </a:rPr>
              <a:t>                                             ├─ /</a:t>
            </a:r>
            <a:r>
              <a:rPr lang="en-MY" sz="1400" dirty="0" err="1">
                <a:solidFill>
                  <a:srgbClr val="4A5568"/>
                </a:solidFill>
              </a:rPr>
              <a:t>api</a:t>
            </a:r>
            <a:r>
              <a:rPr lang="en-MY" sz="1400" dirty="0">
                <a:solidFill>
                  <a:srgbClr val="4A5568"/>
                </a:solidFill>
              </a:rPr>
              <a:t>/vision  server-side Gemini call for clerk retries</a:t>
            </a:r>
          </a:p>
          <a:p>
            <a:pPr>
              <a:spcAft>
                <a:spcPts val="600"/>
              </a:spcAft>
            </a:pPr>
            <a:r>
              <a:rPr lang="en-MY" sz="1400" dirty="0">
                <a:solidFill>
                  <a:srgbClr val="4A5568"/>
                </a:solidFill>
              </a:rPr>
              <a:t>                                             └─ /</a:t>
            </a:r>
            <a:r>
              <a:rPr lang="en-MY" sz="1400" dirty="0" err="1">
                <a:solidFill>
                  <a:srgbClr val="4A5568"/>
                </a:solidFill>
              </a:rPr>
              <a:t>api</a:t>
            </a:r>
            <a:r>
              <a:rPr lang="en-MY" sz="1400" dirty="0">
                <a:solidFill>
                  <a:srgbClr val="4A5568"/>
                </a:solidFill>
              </a:rPr>
              <a:t>/files   serves an original only if the ZIP is on that host</a:t>
            </a:r>
            <a:endParaRPr sz="1400" b="0" dirty="0">
              <a:solidFill>
                <a:srgbClr val="4A5568"/>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a:extLst>
            <a:ext uri="{FF2B5EF4-FFF2-40B4-BE49-F238E27FC236}">
              <a16:creationId xmlns:a16="http://schemas.microsoft.com/office/drawing/2014/main" id="{F9F10266-61DF-D060-4E66-D6D46DA89FC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DF17D64-2AF6-22F6-0CF9-63A297C82468}"/>
              </a:ext>
            </a:extLst>
          </p:cNvPr>
          <p:cNvSpPr/>
          <p:nvPr/>
        </p:nvSpPr>
        <p:spPr>
          <a:xfrm>
            <a:off x="0" y="0"/>
            <a:ext cx="12191695" cy="10515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1814947-EC52-BAB0-1CB0-D8ECEB1B00CC}"/>
              </a:ext>
            </a:extLst>
          </p:cNvPr>
          <p:cNvSpPr txBox="1"/>
          <p:nvPr/>
        </p:nvSpPr>
        <p:spPr>
          <a:xfrm>
            <a:off x="457200" y="256032"/>
            <a:ext cx="10972800" cy="502920"/>
          </a:xfrm>
          <a:prstGeom prst="rect">
            <a:avLst/>
          </a:prstGeom>
          <a:noFill/>
        </p:spPr>
        <p:txBody>
          <a:bodyPr wrap="square">
            <a:spAutoFit/>
          </a:bodyPr>
          <a:lstStyle/>
          <a:p>
            <a:pPr algn="l">
              <a:spcAft>
                <a:spcPts val="600"/>
              </a:spcAft>
            </a:pPr>
            <a:r>
              <a:rPr sz="2800" b="1">
                <a:solidFill>
                  <a:srgbClr val="FFFFFF"/>
                </a:solidFill>
                <a:latin typeface="Calibri"/>
              </a:rPr>
              <a:t>Technical Architecture</a:t>
            </a:r>
          </a:p>
        </p:txBody>
      </p:sp>
      <p:graphicFrame>
        <p:nvGraphicFramePr>
          <p:cNvPr id="5" name="Table 4">
            <a:extLst>
              <a:ext uri="{FF2B5EF4-FFF2-40B4-BE49-F238E27FC236}">
                <a16:creationId xmlns:a16="http://schemas.microsoft.com/office/drawing/2014/main" id="{26BE14D8-BADC-6C75-A7C9-C82FBB49D629}"/>
              </a:ext>
            </a:extLst>
          </p:cNvPr>
          <p:cNvGraphicFramePr>
            <a:graphicFrameLocks noGrp="1"/>
          </p:cNvGraphicFramePr>
          <p:nvPr>
            <p:extLst>
              <p:ext uri="{D42A27DB-BD31-4B8C-83A1-F6EECF244321}">
                <p14:modId xmlns:p14="http://schemas.microsoft.com/office/powerpoint/2010/main" val="3506843974"/>
              </p:ext>
            </p:extLst>
          </p:nvPr>
        </p:nvGraphicFramePr>
        <p:xfrm>
          <a:off x="457198" y="1804175"/>
          <a:ext cx="10972802" cy="3648852"/>
        </p:xfrm>
        <a:graphic>
          <a:graphicData uri="http://schemas.openxmlformats.org/drawingml/2006/table">
            <a:tbl>
              <a:tblPr>
                <a:tableStyleId>{5C22544A-7EE6-4342-B048-85BDC9FD1C3A}</a:tableStyleId>
              </a:tblPr>
              <a:tblGrid>
                <a:gridCol w="5486401">
                  <a:extLst>
                    <a:ext uri="{9D8B030D-6E8A-4147-A177-3AD203B41FA5}">
                      <a16:colId xmlns:a16="http://schemas.microsoft.com/office/drawing/2014/main" val="3806476747"/>
                    </a:ext>
                  </a:extLst>
                </a:gridCol>
                <a:gridCol w="5486401">
                  <a:extLst>
                    <a:ext uri="{9D8B030D-6E8A-4147-A177-3AD203B41FA5}">
                      <a16:colId xmlns:a16="http://schemas.microsoft.com/office/drawing/2014/main" val="866942036"/>
                    </a:ext>
                  </a:extLst>
                </a:gridCol>
              </a:tblGrid>
              <a:tr h="303550">
                <a:tc>
                  <a:txBody>
                    <a:bodyPr/>
                    <a:lstStyle/>
                    <a:p>
                      <a:pPr algn="l">
                        <a:spcAft>
                          <a:spcPts val="1200"/>
                        </a:spcAft>
                        <a:buNone/>
                      </a:pPr>
                      <a:r>
                        <a:rPr lang="en-MY" sz="1400" dirty="0">
                          <a:effectLst/>
                        </a:rPr>
                        <a:t>Module</a:t>
                      </a:r>
                      <a:endParaRPr lang="en-MY" sz="1400" b="1" i="0" dirty="0">
                        <a:solidFill>
                          <a:srgbClr val="1F2328"/>
                        </a:solidFill>
                        <a:effectLst/>
                        <a:latin typeface="Mona Sans VF"/>
                      </a:endParaRPr>
                    </a:p>
                  </a:txBody>
                  <a:tcPr marL="99060" marR="99060" anchor="ctr"/>
                </a:tc>
                <a:tc>
                  <a:txBody>
                    <a:bodyPr/>
                    <a:lstStyle/>
                    <a:p>
                      <a:pPr algn="l">
                        <a:spcAft>
                          <a:spcPts val="1200"/>
                        </a:spcAft>
                        <a:buNone/>
                      </a:pPr>
                      <a:r>
                        <a:rPr lang="en-MY" sz="1400">
                          <a:effectLst/>
                        </a:rPr>
                        <a:t>Responsibility</a:t>
                      </a:r>
                      <a:endParaRPr lang="en-MY" sz="1400" b="1" i="0">
                        <a:solidFill>
                          <a:srgbClr val="1F2328"/>
                        </a:solidFill>
                        <a:effectLst/>
                        <a:latin typeface="Mona Sans VF"/>
                      </a:endParaRPr>
                    </a:p>
                  </a:txBody>
                  <a:tcPr marL="99060" marR="99060" anchor="ctr"/>
                </a:tc>
                <a:extLst>
                  <a:ext uri="{0D108BD9-81ED-4DB2-BD59-A6C34878D82A}">
                    <a16:rowId xmlns:a16="http://schemas.microsoft.com/office/drawing/2014/main" val="3059398881"/>
                  </a:ext>
                </a:extLst>
              </a:tr>
              <a:tr h="531213">
                <a:tc>
                  <a:txBody>
                    <a:bodyPr/>
                    <a:lstStyle/>
                    <a:p>
                      <a:pPr algn="l">
                        <a:spcAft>
                          <a:spcPts val="1200"/>
                        </a:spcAft>
                        <a:buNone/>
                      </a:pPr>
                      <a:r>
                        <a:rPr lang="en-MY" sz="1400">
                          <a:effectLst/>
                        </a:rPr>
                        <a:t>loader.py</a:t>
                      </a:r>
                      <a:endParaRPr lang="en-MY" sz="1400" b="0" i="0">
                        <a:solidFill>
                          <a:srgbClr val="1F2328"/>
                        </a:solidFill>
                        <a:effectLst/>
                        <a:latin typeface="Mona Sans VF"/>
                      </a:endParaRPr>
                    </a:p>
                  </a:txBody>
                  <a:tcPr marL="99060" marR="99060" anchor="ctr"/>
                </a:tc>
                <a:tc>
                  <a:txBody>
                    <a:bodyPr/>
                    <a:lstStyle/>
                    <a:p>
                      <a:pPr algn="l">
                        <a:spcAft>
                          <a:spcPts val="1200"/>
                        </a:spcAft>
                        <a:buNone/>
                      </a:pPr>
                      <a:r>
                        <a:rPr lang="en-MY" sz="1400" dirty="0">
                          <a:effectLst/>
                        </a:rPr>
                        <a:t>Reads the bundle from disk or the organizer HTTP endpoint; identical interface either way</a:t>
                      </a:r>
                      <a:endParaRPr lang="en-MY" sz="1400" b="0" i="0" dirty="0">
                        <a:solidFill>
                          <a:srgbClr val="1F2328"/>
                        </a:solidFill>
                        <a:effectLst/>
                        <a:latin typeface="Mona Sans VF"/>
                      </a:endParaRPr>
                    </a:p>
                  </a:txBody>
                  <a:tcPr marL="99060" marR="99060" anchor="ctr"/>
                </a:tc>
                <a:extLst>
                  <a:ext uri="{0D108BD9-81ED-4DB2-BD59-A6C34878D82A}">
                    <a16:rowId xmlns:a16="http://schemas.microsoft.com/office/drawing/2014/main" val="3113622904"/>
                  </a:ext>
                </a:extLst>
              </a:tr>
              <a:tr h="303550">
                <a:tc>
                  <a:txBody>
                    <a:bodyPr/>
                    <a:lstStyle/>
                    <a:p>
                      <a:pPr algn="l">
                        <a:spcAft>
                          <a:spcPts val="1200"/>
                        </a:spcAft>
                        <a:buNone/>
                      </a:pPr>
                      <a:r>
                        <a:rPr lang="en-MY" sz="1400">
                          <a:effectLst/>
                        </a:rPr>
                        <a:t>classify.py</a:t>
                      </a:r>
                      <a:endParaRPr lang="en-MY" sz="1400" b="0" i="0">
                        <a:solidFill>
                          <a:srgbClr val="1F2328"/>
                        </a:solidFill>
                        <a:effectLst/>
                        <a:latin typeface="Mona Sans VF"/>
                      </a:endParaRPr>
                    </a:p>
                  </a:txBody>
                  <a:tcPr marL="99060" marR="99060" anchor="ctr"/>
                </a:tc>
                <a:tc>
                  <a:txBody>
                    <a:bodyPr/>
                    <a:lstStyle/>
                    <a:p>
                      <a:pPr algn="l">
                        <a:spcAft>
                          <a:spcPts val="1200"/>
                        </a:spcAft>
                        <a:buNone/>
                      </a:pPr>
                      <a:r>
                        <a:rPr lang="en-MY" sz="1400">
                          <a:effectLst/>
                        </a:rPr>
                        <a:t>Subject-first rules into the five categories</a:t>
                      </a:r>
                      <a:endParaRPr lang="en-MY" sz="1400" b="0" i="0">
                        <a:solidFill>
                          <a:srgbClr val="1F2328"/>
                        </a:solidFill>
                        <a:effectLst/>
                        <a:latin typeface="Mona Sans VF"/>
                      </a:endParaRPr>
                    </a:p>
                  </a:txBody>
                  <a:tcPr marL="99060" marR="99060" anchor="ctr"/>
                </a:tc>
                <a:extLst>
                  <a:ext uri="{0D108BD9-81ED-4DB2-BD59-A6C34878D82A}">
                    <a16:rowId xmlns:a16="http://schemas.microsoft.com/office/drawing/2014/main" val="3937437924"/>
                  </a:ext>
                </a:extLst>
              </a:tr>
              <a:tr h="531213">
                <a:tc>
                  <a:txBody>
                    <a:bodyPr/>
                    <a:lstStyle/>
                    <a:p>
                      <a:pPr algn="l">
                        <a:spcAft>
                          <a:spcPts val="1200"/>
                        </a:spcAft>
                        <a:buNone/>
                      </a:pPr>
                      <a:r>
                        <a:rPr lang="en-MY" sz="1400">
                          <a:effectLst/>
                        </a:rPr>
                        <a:t>extract_txt.py</a:t>
                      </a:r>
                      <a:endParaRPr lang="en-MY" sz="1400" b="0" i="0">
                        <a:solidFill>
                          <a:srgbClr val="1F2328"/>
                        </a:solidFill>
                        <a:effectLst/>
                        <a:latin typeface="Mona Sans VF"/>
                      </a:endParaRPr>
                    </a:p>
                  </a:txBody>
                  <a:tcPr marL="99060" marR="99060" anchor="ctr"/>
                </a:tc>
                <a:tc>
                  <a:txBody>
                    <a:bodyPr/>
                    <a:lstStyle/>
                    <a:p>
                      <a:pPr algn="l">
                        <a:spcAft>
                          <a:spcPts val="1200"/>
                        </a:spcAft>
                        <a:buNone/>
                      </a:pPr>
                      <a:r>
                        <a:rPr lang="en-MY" sz="1400">
                          <a:effectLst/>
                        </a:rPr>
                        <a:t>Label-alias extraction of the seven fields from document text</a:t>
                      </a:r>
                      <a:endParaRPr lang="en-MY" sz="1400" b="0" i="0">
                        <a:solidFill>
                          <a:srgbClr val="1F2328"/>
                        </a:solidFill>
                        <a:effectLst/>
                        <a:latin typeface="Mona Sans VF"/>
                      </a:endParaRPr>
                    </a:p>
                  </a:txBody>
                  <a:tcPr marL="99060" marR="99060" anchor="ctr"/>
                </a:tc>
                <a:extLst>
                  <a:ext uri="{0D108BD9-81ED-4DB2-BD59-A6C34878D82A}">
                    <a16:rowId xmlns:a16="http://schemas.microsoft.com/office/drawing/2014/main" val="3712216941"/>
                  </a:ext>
                </a:extLst>
              </a:tr>
              <a:tr h="531213">
                <a:tc>
                  <a:txBody>
                    <a:bodyPr/>
                    <a:lstStyle/>
                    <a:p>
                      <a:pPr algn="l">
                        <a:spcAft>
                          <a:spcPts val="1200"/>
                        </a:spcAft>
                        <a:buNone/>
                      </a:pPr>
                      <a:r>
                        <a:rPr lang="en-MY" sz="1400">
                          <a:effectLst/>
                        </a:rPr>
                        <a:t>extract_bin.py</a:t>
                      </a:r>
                      <a:endParaRPr lang="en-MY" sz="1400" b="0" i="0">
                        <a:solidFill>
                          <a:srgbClr val="1F2328"/>
                        </a:solidFill>
                        <a:effectLst/>
                        <a:latin typeface="Mona Sans VF"/>
                      </a:endParaRPr>
                    </a:p>
                  </a:txBody>
                  <a:tcPr marL="99060" marR="99060" anchor="ctr"/>
                </a:tc>
                <a:tc>
                  <a:txBody>
                    <a:bodyPr/>
                    <a:lstStyle/>
                    <a:p>
                      <a:pPr algn="l">
                        <a:spcAft>
                          <a:spcPts val="1200"/>
                        </a:spcAft>
                        <a:buNone/>
                      </a:pPr>
                      <a:r>
                        <a:rPr lang="en-MY" sz="1400" dirty="0">
                          <a:effectLst/>
                        </a:rPr>
                        <a:t>PDF via </a:t>
                      </a:r>
                      <a:r>
                        <a:rPr lang="en-MY" sz="1400" dirty="0" err="1">
                          <a:effectLst/>
                        </a:rPr>
                        <a:t>pdfplumber</a:t>
                      </a:r>
                      <a:r>
                        <a:rPr lang="en-MY" sz="1400" dirty="0">
                          <a:effectLst/>
                        </a:rPr>
                        <a:t>, XLSX via </a:t>
                      </a:r>
                      <a:r>
                        <a:rPr lang="en-MY" sz="1400" dirty="0" err="1">
                          <a:effectLst/>
                        </a:rPr>
                        <a:t>openpyxl</a:t>
                      </a:r>
                      <a:r>
                        <a:rPr lang="en-MY" sz="1400" dirty="0">
                          <a:effectLst/>
                        </a:rPr>
                        <a:t>, DOCX straight from the OOXML zip</a:t>
                      </a:r>
                      <a:endParaRPr lang="en-MY" sz="1400" b="0" i="0" dirty="0">
                        <a:solidFill>
                          <a:srgbClr val="1F2328"/>
                        </a:solidFill>
                        <a:effectLst/>
                        <a:latin typeface="Mona Sans VF"/>
                      </a:endParaRPr>
                    </a:p>
                  </a:txBody>
                  <a:tcPr marL="99060" marR="99060" anchor="ctr"/>
                </a:tc>
                <a:extLst>
                  <a:ext uri="{0D108BD9-81ED-4DB2-BD59-A6C34878D82A}">
                    <a16:rowId xmlns:a16="http://schemas.microsoft.com/office/drawing/2014/main" val="2670329049"/>
                  </a:ext>
                </a:extLst>
              </a:tr>
              <a:tr h="303550">
                <a:tc>
                  <a:txBody>
                    <a:bodyPr/>
                    <a:lstStyle/>
                    <a:p>
                      <a:pPr algn="l">
                        <a:spcAft>
                          <a:spcPts val="1200"/>
                        </a:spcAft>
                        <a:buNone/>
                      </a:pPr>
                      <a:r>
                        <a:rPr lang="en-MY" sz="1400">
                          <a:effectLst/>
                        </a:rPr>
                        <a:t>normalize.py</a:t>
                      </a:r>
                      <a:endParaRPr lang="en-MY" sz="1400" b="0" i="0">
                        <a:solidFill>
                          <a:srgbClr val="1F2328"/>
                        </a:solidFill>
                        <a:effectLst/>
                        <a:latin typeface="Mona Sans VF"/>
                      </a:endParaRPr>
                    </a:p>
                  </a:txBody>
                  <a:tcPr marL="99060" marR="99060" anchor="ctr"/>
                </a:tc>
                <a:tc>
                  <a:txBody>
                    <a:bodyPr/>
                    <a:lstStyle/>
                    <a:p>
                      <a:pPr algn="l">
                        <a:spcAft>
                          <a:spcPts val="1200"/>
                        </a:spcAft>
                        <a:buNone/>
                      </a:pPr>
                      <a:r>
                        <a:rPr lang="en-MY" sz="1400">
                          <a:effectLst/>
                        </a:rPr>
                        <a:t>Company-name and port comparison rules</a:t>
                      </a:r>
                      <a:endParaRPr lang="en-MY" sz="1400" b="0" i="0">
                        <a:solidFill>
                          <a:srgbClr val="1F2328"/>
                        </a:solidFill>
                        <a:effectLst/>
                        <a:latin typeface="Mona Sans VF"/>
                      </a:endParaRPr>
                    </a:p>
                  </a:txBody>
                  <a:tcPr marL="99060" marR="99060" anchor="ctr"/>
                </a:tc>
                <a:extLst>
                  <a:ext uri="{0D108BD9-81ED-4DB2-BD59-A6C34878D82A}">
                    <a16:rowId xmlns:a16="http://schemas.microsoft.com/office/drawing/2014/main" val="1446772455"/>
                  </a:ext>
                </a:extLst>
              </a:tr>
              <a:tr h="303550">
                <a:tc>
                  <a:txBody>
                    <a:bodyPr/>
                    <a:lstStyle/>
                    <a:p>
                      <a:pPr algn="l">
                        <a:spcAft>
                          <a:spcPts val="1200"/>
                        </a:spcAft>
                        <a:buNone/>
                      </a:pPr>
                      <a:r>
                        <a:rPr lang="en-MY" sz="1400">
                          <a:effectLst/>
                        </a:rPr>
                        <a:t>compare.py</a:t>
                      </a:r>
                      <a:endParaRPr lang="en-MY" sz="1400" b="0" i="0">
                        <a:solidFill>
                          <a:srgbClr val="1F2328"/>
                        </a:solidFill>
                        <a:effectLst/>
                        <a:latin typeface="Mona Sans VF"/>
                      </a:endParaRPr>
                    </a:p>
                  </a:txBody>
                  <a:tcPr marL="99060" marR="99060" anchor="ctr"/>
                </a:tc>
                <a:tc>
                  <a:txBody>
                    <a:bodyPr/>
                    <a:lstStyle/>
                    <a:p>
                      <a:pPr algn="l">
                        <a:spcAft>
                          <a:spcPts val="1200"/>
                        </a:spcAft>
                        <a:buNone/>
                      </a:pPr>
                      <a:r>
                        <a:rPr lang="en-MY" sz="1400" dirty="0">
                          <a:effectLst/>
                        </a:rPr>
                        <a:t>The only place a mismatch is decided</a:t>
                      </a:r>
                      <a:endParaRPr lang="en-MY" sz="1400" b="0" i="0" dirty="0">
                        <a:solidFill>
                          <a:srgbClr val="1F2328"/>
                        </a:solidFill>
                        <a:effectLst/>
                        <a:latin typeface="Mona Sans VF"/>
                      </a:endParaRPr>
                    </a:p>
                  </a:txBody>
                  <a:tcPr marL="99060" marR="99060" anchor="ctr"/>
                </a:tc>
                <a:extLst>
                  <a:ext uri="{0D108BD9-81ED-4DB2-BD59-A6C34878D82A}">
                    <a16:rowId xmlns:a16="http://schemas.microsoft.com/office/drawing/2014/main" val="1317330888"/>
                  </a:ext>
                </a:extLst>
              </a:tr>
              <a:tr h="531213">
                <a:tc>
                  <a:txBody>
                    <a:bodyPr/>
                    <a:lstStyle/>
                    <a:p>
                      <a:pPr algn="l">
                        <a:spcAft>
                          <a:spcPts val="1200"/>
                        </a:spcAft>
                        <a:buNone/>
                      </a:pPr>
                      <a:r>
                        <a:rPr lang="en-MY" sz="1400">
                          <a:effectLst/>
                        </a:rPr>
                        <a:t>vision.py</a:t>
                      </a:r>
                      <a:endParaRPr lang="en-MY" sz="1400" b="0" i="0">
                        <a:solidFill>
                          <a:srgbClr val="1F2328"/>
                        </a:solidFill>
                        <a:effectLst/>
                        <a:latin typeface="Mona Sans VF"/>
                      </a:endParaRPr>
                    </a:p>
                  </a:txBody>
                  <a:tcPr marL="99060" marR="99060" anchor="ctr"/>
                </a:tc>
                <a:tc>
                  <a:txBody>
                    <a:bodyPr/>
                    <a:lstStyle/>
                    <a:p>
                      <a:pPr algn="l">
                        <a:spcAft>
                          <a:spcPts val="1200"/>
                        </a:spcAft>
                        <a:buNone/>
                      </a:pPr>
                      <a:r>
                        <a:rPr lang="en-MY" sz="1400">
                          <a:effectLst/>
                        </a:rPr>
                        <a:t>Opt-in Gemini extraction for files with no text layer</a:t>
                      </a:r>
                      <a:endParaRPr lang="en-MY" sz="1400" b="0" i="0">
                        <a:solidFill>
                          <a:srgbClr val="1F2328"/>
                        </a:solidFill>
                        <a:effectLst/>
                        <a:latin typeface="Mona Sans VF"/>
                      </a:endParaRPr>
                    </a:p>
                  </a:txBody>
                  <a:tcPr marL="99060" marR="99060" anchor="ctr"/>
                </a:tc>
                <a:extLst>
                  <a:ext uri="{0D108BD9-81ED-4DB2-BD59-A6C34878D82A}">
                    <a16:rowId xmlns:a16="http://schemas.microsoft.com/office/drawing/2014/main" val="3796619758"/>
                  </a:ext>
                </a:extLst>
              </a:tr>
              <a:tr h="303550">
                <a:tc>
                  <a:txBody>
                    <a:bodyPr/>
                    <a:lstStyle/>
                    <a:p>
                      <a:pPr algn="l">
                        <a:spcAft>
                          <a:spcPts val="1200"/>
                        </a:spcAft>
                        <a:buNone/>
                      </a:pPr>
                      <a:r>
                        <a:rPr lang="en-MY" sz="1400">
                          <a:effectLst/>
                        </a:rPr>
                        <a:t>web/</a:t>
                      </a:r>
                      <a:endParaRPr lang="en-MY" sz="1400" b="0" i="0">
                        <a:solidFill>
                          <a:srgbClr val="1F2328"/>
                        </a:solidFill>
                        <a:effectLst/>
                        <a:latin typeface="Mona Sans VF"/>
                      </a:endParaRPr>
                    </a:p>
                  </a:txBody>
                  <a:tcPr marL="99060" marR="99060" anchor="ctr"/>
                </a:tc>
                <a:tc>
                  <a:txBody>
                    <a:bodyPr/>
                    <a:lstStyle/>
                    <a:p>
                      <a:pPr algn="l">
                        <a:spcAft>
                          <a:spcPts val="1200"/>
                        </a:spcAft>
                        <a:buNone/>
                      </a:pPr>
                      <a:r>
                        <a:rPr lang="en-MY" sz="1400" dirty="0">
                          <a:effectLst/>
                        </a:rPr>
                        <a:t>Next.js clerk interface, deployed on </a:t>
                      </a:r>
                      <a:r>
                        <a:rPr lang="en-MY" sz="1400" dirty="0" err="1">
                          <a:effectLst/>
                        </a:rPr>
                        <a:t>Vercel</a:t>
                      </a:r>
                      <a:endParaRPr lang="en-MY" sz="1400" b="0" i="0" dirty="0">
                        <a:solidFill>
                          <a:srgbClr val="1F2328"/>
                        </a:solidFill>
                        <a:effectLst/>
                        <a:latin typeface="Mona Sans VF"/>
                      </a:endParaRPr>
                    </a:p>
                  </a:txBody>
                  <a:tcPr marL="99060" marR="99060" anchor="ctr"/>
                </a:tc>
                <a:extLst>
                  <a:ext uri="{0D108BD9-81ED-4DB2-BD59-A6C34878D82A}">
                    <a16:rowId xmlns:a16="http://schemas.microsoft.com/office/drawing/2014/main" val="2216020804"/>
                  </a:ext>
                </a:extLst>
              </a:tr>
            </a:tbl>
          </a:graphicData>
        </a:graphic>
      </p:graphicFrame>
      <p:sp>
        <p:nvSpPr>
          <p:cNvPr id="7" name="TextBox 6">
            <a:extLst>
              <a:ext uri="{FF2B5EF4-FFF2-40B4-BE49-F238E27FC236}">
                <a16:creationId xmlns:a16="http://schemas.microsoft.com/office/drawing/2014/main" id="{B6E6153C-ABB2-54B0-45DA-DF758A0A17FA}"/>
              </a:ext>
            </a:extLst>
          </p:cNvPr>
          <p:cNvSpPr txBox="1"/>
          <p:nvPr/>
        </p:nvSpPr>
        <p:spPr>
          <a:xfrm>
            <a:off x="457200" y="1307592"/>
            <a:ext cx="6144126" cy="369332"/>
          </a:xfrm>
          <a:prstGeom prst="rect">
            <a:avLst/>
          </a:prstGeom>
          <a:noFill/>
        </p:spPr>
        <p:txBody>
          <a:bodyPr wrap="square">
            <a:spAutoFit/>
          </a:bodyPr>
          <a:lstStyle/>
          <a:p>
            <a:r>
              <a:rPr lang="en-MY" sz="1800" b="1" i="0" dirty="0">
                <a:solidFill>
                  <a:schemeClr val="tx1"/>
                </a:solidFill>
                <a:effectLst/>
                <a:latin typeface="+mn-lt"/>
              </a:rPr>
              <a:t>Components</a:t>
            </a:r>
            <a:endParaRPr lang="en-MY" dirty="0"/>
          </a:p>
        </p:txBody>
      </p:sp>
      <p:sp>
        <p:nvSpPr>
          <p:cNvPr id="9" name="TextBox 8">
            <a:extLst>
              <a:ext uri="{FF2B5EF4-FFF2-40B4-BE49-F238E27FC236}">
                <a16:creationId xmlns:a16="http://schemas.microsoft.com/office/drawing/2014/main" id="{FD464923-44E5-C3F1-016D-65A44BEB21F8}"/>
              </a:ext>
            </a:extLst>
          </p:cNvPr>
          <p:cNvSpPr txBox="1"/>
          <p:nvPr/>
        </p:nvSpPr>
        <p:spPr>
          <a:xfrm>
            <a:off x="457198" y="5580278"/>
            <a:ext cx="10972802" cy="738664"/>
          </a:xfrm>
          <a:prstGeom prst="rect">
            <a:avLst/>
          </a:prstGeom>
          <a:noFill/>
        </p:spPr>
        <p:txBody>
          <a:bodyPr wrap="square">
            <a:spAutoFit/>
          </a:bodyPr>
          <a:lstStyle/>
          <a:p>
            <a:pPr algn="just"/>
            <a:r>
              <a:rPr lang="en-MY" sz="1400" b="1" i="0" dirty="0">
                <a:solidFill>
                  <a:schemeClr val="tx1"/>
                </a:solidFill>
                <a:effectLst/>
                <a:latin typeface="+mn-lt"/>
              </a:rPr>
              <a:t>The load-bearing design decision:</a:t>
            </a:r>
            <a:r>
              <a:rPr lang="en-MY" sz="1400" b="0" i="0" dirty="0">
                <a:solidFill>
                  <a:schemeClr val="tx1"/>
                </a:solidFill>
                <a:effectLst/>
                <a:latin typeface="+mn-lt"/>
              </a:rPr>
              <a:t> the language model is allowed to </a:t>
            </a:r>
            <a:r>
              <a:rPr lang="en-MY" sz="1400" b="0" i="1" dirty="0">
                <a:solidFill>
                  <a:schemeClr val="tx1"/>
                </a:solidFill>
                <a:effectLst/>
                <a:latin typeface="+mn-lt"/>
              </a:rPr>
              <a:t>read</a:t>
            </a:r>
            <a:r>
              <a:rPr lang="en-MY" sz="1400" b="0" i="0" dirty="0">
                <a:solidFill>
                  <a:schemeClr val="tx1"/>
                </a:solidFill>
                <a:effectLst/>
                <a:latin typeface="+mn-lt"/>
              </a:rPr>
              <a:t>, never to </a:t>
            </a:r>
            <a:r>
              <a:rPr lang="en-MY" sz="1400" b="0" i="1" dirty="0">
                <a:solidFill>
                  <a:schemeClr val="tx1"/>
                </a:solidFill>
                <a:effectLst/>
                <a:latin typeface="+mn-lt"/>
              </a:rPr>
              <a:t>decide</a:t>
            </a:r>
            <a:r>
              <a:rPr lang="en-MY" sz="1400" b="0" i="0" dirty="0">
                <a:solidFill>
                  <a:schemeClr val="tx1"/>
                </a:solidFill>
                <a:effectLst/>
                <a:latin typeface="+mn-lt"/>
              </a:rPr>
              <a:t>. compare.py is deterministic code, so the same pair always produces the same verdict, and a model change cannot silently alter an audit trail. Everything a model produced is labelled </a:t>
            </a:r>
            <a:r>
              <a:rPr lang="en-MY" sz="1400" b="0" i="0" dirty="0" err="1">
                <a:solidFill>
                  <a:schemeClr val="tx1"/>
                </a:solidFill>
                <a:effectLst/>
                <a:latin typeface="+mn-lt"/>
              </a:rPr>
              <a:t>gemini</a:t>
            </a:r>
            <a:r>
              <a:rPr lang="en-MY" sz="1400" b="0" i="0" dirty="0">
                <a:solidFill>
                  <a:schemeClr val="tx1"/>
                </a:solidFill>
                <a:effectLst/>
                <a:latin typeface="+mn-lt"/>
              </a:rPr>
              <a:t>-vision in the interface and requires a clerk to confirm before it is filed.</a:t>
            </a:r>
            <a:endParaRPr lang="en-MY" sz="1400" dirty="0"/>
          </a:p>
        </p:txBody>
      </p:sp>
    </p:spTree>
    <p:extLst>
      <p:ext uri="{BB962C8B-B14F-4D97-AF65-F5344CB8AC3E}">
        <p14:creationId xmlns:p14="http://schemas.microsoft.com/office/powerpoint/2010/main" val="2927478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0972800" cy="502920"/>
          </a:xfrm>
          <a:prstGeom prst="rect">
            <a:avLst/>
          </a:prstGeom>
          <a:noFill/>
        </p:spPr>
        <p:txBody>
          <a:bodyPr wrap="square">
            <a:spAutoFit/>
          </a:bodyPr>
          <a:lstStyle/>
          <a:p>
            <a:pPr algn="l">
              <a:spcAft>
                <a:spcPts val="600"/>
              </a:spcAft>
            </a:pPr>
            <a:r>
              <a:rPr sz="2800" b="1">
                <a:solidFill>
                  <a:srgbClr val="FFFFFF"/>
                </a:solidFill>
                <a:latin typeface="Calibri"/>
              </a:rPr>
              <a:t>Implementation Details</a:t>
            </a:r>
          </a:p>
        </p:txBody>
      </p:sp>
      <p:sp>
        <p:nvSpPr>
          <p:cNvPr id="5" name="TextBox 4"/>
          <p:cNvSpPr txBox="1"/>
          <p:nvPr/>
        </p:nvSpPr>
        <p:spPr>
          <a:xfrm>
            <a:off x="457200" y="1362936"/>
            <a:ext cx="11462084" cy="5262979"/>
          </a:xfrm>
          <a:prstGeom prst="rect">
            <a:avLst/>
          </a:prstGeom>
          <a:noFill/>
        </p:spPr>
        <p:txBody>
          <a:bodyPr wrap="square">
            <a:spAutoFit/>
          </a:bodyPr>
          <a:lstStyle/>
          <a:p>
            <a:pPr marL="285750" indent="-285750" algn="just">
              <a:buFont typeface="Arial" panose="020B0604020202020204" pitchFamily="34" charset="0"/>
              <a:buChar char="•"/>
            </a:pPr>
            <a:r>
              <a:rPr lang="en-MY" sz="1600" b="1" dirty="0"/>
              <a:t>Classification</a:t>
            </a:r>
            <a:r>
              <a:rPr lang="en-MY" sz="1600" dirty="0"/>
              <a:t> is rule-first on the subject line, falling back to the body. Order matters: a request for a </a:t>
            </a:r>
            <a:r>
              <a:rPr lang="en-MY" sz="1600" i="1" dirty="0"/>
              <a:t>new</a:t>
            </a:r>
            <a:r>
              <a:rPr lang="en-MY" sz="1600" dirty="0"/>
              <a:t> shipping instruction often contains the phrase "draft BL", so the SI rule is evaluated before the comparison rule.</a:t>
            </a:r>
          </a:p>
          <a:p>
            <a:pPr algn="just"/>
            <a:endParaRPr lang="en-MY" sz="1600" dirty="0"/>
          </a:p>
          <a:p>
            <a:pPr marL="285750" indent="-285750" algn="just">
              <a:buFont typeface="Arial" panose="020B0604020202020204" pitchFamily="34" charset="0"/>
              <a:buChar char="•"/>
            </a:pPr>
            <a:r>
              <a:rPr lang="en-MY" sz="1600" b="1" dirty="0"/>
              <a:t>Field extraction</a:t>
            </a:r>
            <a:r>
              <a:rPr lang="en-MY" sz="1600" dirty="0"/>
              <a:t> matches label aliases, longest first, so "Notify Party" wins over "Notify". The same extractor runs on text from every format, which is why adding XLSX and DOCX cost no new comparison logic.</a:t>
            </a:r>
          </a:p>
          <a:p>
            <a:pPr algn="just"/>
            <a:endParaRPr lang="en-MY" sz="1600" dirty="0"/>
          </a:p>
          <a:p>
            <a:pPr marL="285750" indent="-285750" algn="just">
              <a:buFont typeface="Arial" panose="020B0604020202020204" pitchFamily="34" charset="0"/>
              <a:buChar char="•"/>
            </a:pPr>
            <a:r>
              <a:rPr lang="en-MY" sz="1600" b="1" dirty="0"/>
              <a:t>Comparison rules learned from the data</a:t>
            </a:r>
            <a:r>
              <a:rPr lang="en-MY" sz="1600" dirty="0"/>
              <a:t>, each one a real failure we hit:</a:t>
            </a:r>
          </a:p>
          <a:p>
            <a:pPr marL="800100" lvl="1" indent="-342900" algn="just">
              <a:buFont typeface="+mj-lt"/>
              <a:buAutoNum type="arabicPeriod"/>
            </a:pPr>
            <a:r>
              <a:rPr lang="en-MY" sz="1600" dirty="0"/>
              <a:t>Ports are compared by </a:t>
            </a:r>
            <a:r>
              <a:rPr lang="en-MY" sz="1600" b="1" dirty="0"/>
              <a:t>city name</a:t>
            </a:r>
            <a:r>
              <a:rPr lang="en-MY" sz="1600" dirty="0"/>
              <a:t>, not UN/LOCODE alone: two documents shared a code but named different cities.</a:t>
            </a:r>
          </a:p>
          <a:p>
            <a:pPr marL="800100" lvl="1" indent="-342900" algn="just">
              <a:buFont typeface="+mj-lt"/>
              <a:buAutoNum type="arabicPeriod"/>
            </a:pPr>
            <a:r>
              <a:rPr lang="en-MY" sz="1600" dirty="0"/>
              <a:t>APRIL and APRIL MIDDLE EAST are </a:t>
            </a:r>
            <a:r>
              <a:rPr lang="en-MY" sz="1600" b="1" dirty="0"/>
              <a:t>different shippers</a:t>
            </a:r>
            <a:r>
              <a:rPr lang="en-MY" sz="1600" dirty="0"/>
              <a:t>, so a leading-name match is not enough.</a:t>
            </a:r>
          </a:p>
          <a:p>
            <a:pPr marL="800100" lvl="1" indent="-342900" algn="just">
              <a:buFont typeface="+mj-lt"/>
              <a:buAutoNum type="arabicPeriod"/>
            </a:pPr>
            <a:r>
              <a:rPr lang="en-MY" sz="1600" dirty="0"/>
              <a:t>Addresses leak into name cells; the comparison strips the trailing address lines.</a:t>
            </a:r>
          </a:p>
          <a:p>
            <a:pPr marL="800100" lvl="1" indent="-342900" algn="just">
              <a:buFont typeface="+mj-lt"/>
              <a:buAutoNum type="arabicPeriod"/>
            </a:pPr>
            <a:r>
              <a:rPr lang="en-MY" sz="1600" dirty="0"/>
              <a:t>A blank marked ??? or TBA is </a:t>
            </a:r>
            <a:r>
              <a:rPr lang="en-MY" sz="1600" b="1" dirty="0"/>
              <a:t>uncertainty, not a defect</a:t>
            </a:r>
            <a:r>
              <a:rPr lang="en-MY" sz="1600" dirty="0"/>
              <a:t> — it becomes Pending, never MISMATCH.</a:t>
            </a:r>
          </a:p>
          <a:p>
            <a:pPr marL="742950" lvl="1" indent="-285750" algn="just">
              <a:buFont typeface="Arial" panose="020B0604020202020204" pitchFamily="34" charset="0"/>
              <a:buChar char="•"/>
            </a:pPr>
            <a:endParaRPr lang="en-MY" sz="1600" dirty="0"/>
          </a:p>
          <a:p>
            <a:pPr marL="285750" indent="-285750" algn="just">
              <a:buFont typeface="Arial" panose="020B0604020202020204" pitchFamily="34" charset="0"/>
              <a:buChar char="•"/>
            </a:pPr>
            <a:r>
              <a:rPr lang="en-MY" sz="1600" b="1" dirty="0"/>
              <a:t>Attachment formats in the dataset:</a:t>
            </a:r>
            <a:r>
              <a:rPr lang="en-MY" sz="1600" dirty="0"/>
              <a:t> 192 .txt, 28 .pdf, 22 .xlsx, 8 .docx. Rules read all four. Of the 28 PDFs, 23 have a text layer, 3 are scan-only images, and 2 are corrupted bytes.</a:t>
            </a:r>
          </a:p>
          <a:p>
            <a:pPr marL="285750" indent="-285750" algn="just">
              <a:buFont typeface="Arial" panose="020B0604020202020204" pitchFamily="34" charset="0"/>
              <a:buChar char="•"/>
            </a:pPr>
            <a:endParaRPr lang="en-MY" sz="1600" dirty="0"/>
          </a:p>
          <a:p>
            <a:pPr marL="285750" indent="-285750" algn="just">
              <a:buFont typeface="Arial" panose="020B0604020202020204" pitchFamily="34" charset="0"/>
              <a:buChar char="•"/>
            </a:pPr>
            <a:r>
              <a:rPr lang="en-MY" sz="1600" b="1" dirty="0"/>
              <a:t>Vision path.</a:t>
            </a:r>
            <a:r>
              <a:rPr lang="en-MY" sz="1600" dirty="0"/>
              <a:t> Only files with no text layer reach Gemini, and only when a human asks. It returns the seven fields as JSON at temperature 0, and refuses when fewer than three are legible. The verdict still comes from compare.py.</a:t>
            </a:r>
          </a:p>
          <a:p>
            <a:pPr marL="285750" indent="-285750" algn="just">
              <a:buFont typeface="Arial" panose="020B0604020202020204" pitchFamily="34" charset="0"/>
              <a:buChar char="•"/>
            </a:pPr>
            <a:endParaRPr lang="en-MY" sz="1600" dirty="0"/>
          </a:p>
          <a:p>
            <a:pPr marL="285750" indent="-285750" algn="just">
              <a:buFont typeface="Arial" panose="020B0604020202020204" pitchFamily="34" charset="0"/>
              <a:buChar char="•"/>
            </a:pPr>
            <a:r>
              <a:rPr lang="en-MY" sz="1600" b="1" dirty="0"/>
              <a:t>Clerk write-back.</a:t>
            </a:r>
            <a:r>
              <a:rPr lang="en-MY" sz="1600" dirty="0"/>
              <a:t> A deployed </a:t>
            </a:r>
            <a:r>
              <a:rPr lang="en-MY" sz="1600" dirty="0" err="1"/>
              <a:t>Vercel</a:t>
            </a:r>
            <a:r>
              <a:rPr lang="en-MY" sz="1600" dirty="0"/>
              <a:t> filesystem is read-only, so clerk decisions live in the browser and the Reviewed page exports and imports them as a handover file. In production this same payload is one shared table; the interface does not change.</a:t>
            </a:r>
          </a:p>
          <a:p>
            <a:pPr algn="just"/>
            <a:endParaRPr sz="1600" b="0" dirty="0">
              <a:solidFill>
                <a:srgbClr val="1C1C1C"/>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0972800" cy="502920"/>
          </a:xfrm>
          <a:prstGeom prst="rect">
            <a:avLst/>
          </a:prstGeom>
          <a:noFill/>
        </p:spPr>
        <p:txBody>
          <a:bodyPr wrap="square">
            <a:spAutoFit/>
          </a:bodyPr>
          <a:lstStyle/>
          <a:p>
            <a:pPr algn="l">
              <a:spcAft>
                <a:spcPts val="600"/>
              </a:spcAft>
            </a:pPr>
            <a:r>
              <a:rPr sz="2800" b="1">
                <a:solidFill>
                  <a:srgbClr val="FFFFFF"/>
                </a:solidFill>
                <a:latin typeface="Calibri"/>
              </a:rPr>
              <a:t>Challenges Faced</a:t>
            </a:r>
          </a:p>
        </p:txBody>
      </p:sp>
      <p:sp>
        <p:nvSpPr>
          <p:cNvPr id="11" name="TextBox 10">
            <a:extLst>
              <a:ext uri="{FF2B5EF4-FFF2-40B4-BE49-F238E27FC236}">
                <a16:creationId xmlns:a16="http://schemas.microsoft.com/office/drawing/2014/main" id="{DE3D97C7-6CC5-8D83-D6B5-6DC9EE3D925E}"/>
              </a:ext>
            </a:extLst>
          </p:cNvPr>
          <p:cNvSpPr txBox="1"/>
          <p:nvPr/>
        </p:nvSpPr>
        <p:spPr>
          <a:xfrm>
            <a:off x="256673" y="1307592"/>
            <a:ext cx="11710737" cy="5294376"/>
          </a:xfrm>
          <a:prstGeom prst="rect">
            <a:avLst/>
          </a:prstGeom>
          <a:noFill/>
        </p:spPr>
        <p:txBody>
          <a:bodyPr wrap="square">
            <a:spAutoFit/>
          </a:bodyPr>
          <a:lstStyle/>
          <a:p>
            <a:pPr marL="285750" indent="-285750" algn="just">
              <a:spcAft>
                <a:spcPts val="1200"/>
              </a:spcAft>
              <a:buFont typeface="Arial" panose="020B0604020202020204" pitchFamily="34" charset="0"/>
              <a:buChar char="•"/>
            </a:pPr>
            <a:r>
              <a:rPr lang="en-MY" sz="1800" b="1" i="0" dirty="0">
                <a:solidFill>
                  <a:schemeClr val="tx1"/>
                </a:solidFill>
                <a:effectLst/>
                <a:latin typeface="+mn-lt"/>
              </a:rPr>
              <a:t>A blocked DLL cost 0.08 of the score, silently.</a:t>
            </a:r>
            <a:r>
              <a:rPr lang="en-MY" sz="1800" b="0" i="0" dirty="0">
                <a:solidFill>
                  <a:schemeClr val="tx1"/>
                </a:solidFill>
                <a:effectLst/>
                <a:latin typeface="+mn-lt"/>
              </a:rPr>
              <a:t> python-docx needs an </a:t>
            </a:r>
            <a:r>
              <a:rPr lang="en-MY" sz="1800" b="0" i="0" dirty="0" err="1">
                <a:solidFill>
                  <a:schemeClr val="tx1"/>
                </a:solidFill>
                <a:effectLst/>
                <a:latin typeface="+mn-lt"/>
              </a:rPr>
              <a:t>lxml</a:t>
            </a:r>
            <a:r>
              <a:rPr lang="en-MY" sz="1800" b="0" i="0" dirty="0">
                <a:solidFill>
                  <a:schemeClr val="tx1"/>
                </a:solidFill>
                <a:effectLst/>
                <a:latin typeface="+mn-lt"/>
              </a:rPr>
              <a:t> DLL that Windows Application Control blocks on the development machine. Eight DOCX pairs fell to "unreadable" and the real score was 0.9208 while we believed it was 1.0. Fix: parse word/document.xml from the OOXML zip with the standard library, treating &lt;</a:t>
            </a:r>
            <a:r>
              <a:rPr lang="en-MY" sz="1800" b="0" i="0" dirty="0" err="1">
                <a:solidFill>
                  <a:schemeClr val="tx1"/>
                </a:solidFill>
                <a:effectLst/>
                <a:latin typeface="+mn-lt"/>
              </a:rPr>
              <a:t>w:br</a:t>
            </a:r>
            <a:r>
              <a:rPr lang="en-MY" sz="1800" b="0" i="0" dirty="0">
                <a:solidFill>
                  <a:schemeClr val="tx1"/>
                </a:solidFill>
                <a:effectLst/>
                <a:latin typeface="+mn-lt"/>
              </a:rPr>
              <a:t>/&gt; as a newline so a company name never glues onto its address. Lesson: a dependency that fails at import looks exactly like a document that cannot be read, so the two must be distinguishable in the logs.</a:t>
            </a:r>
          </a:p>
          <a:p>
            <a:pPr marL="285750" indent="-285750" algn="just">
              <a:spcAft>
                <a:spcPts val="1200"/>
              </a:spcAft>
              <a:buFont typeface="Arial" panose="020B0604020202020204" pitchFamily="34" charset="0"/>
              <a:buChar char="•"/>
            </a:pPr>
            <a:r>
              <a:rPr lang="en-MY" sz="1800" b="1" i="0" dirty="0">
                <a:solidFill>
                  <a:schemeClr val="tx1"/>
                </a:solidFill>
                <a:effectLst/>
                <a:latin typeface="+mn-lt"/>
              </a:rPr>
              <a:t>The vision feature had never run.</a:t>
            </a:r>
            <a:r>
              <a:rPr lang="en-MY" sz="1800" b="0" i="0" dirty="0">
                <a:solidFill>
                  <a:schemeClr val="tx1"/>
                </a:solidFill>
                <a:effectLst/>
                <a:latin typeface="+mn-lt"/>
              </a:rPr>
              <a:t> Every Gemini call returned HTTP 404 because gemini-2.0-flash was retired, and the error was being swallowed into a generic "unreadable". Fix: move to gemini-3.6-flash and make both the engine and the API route report the upstream message. Lesson: never let an integration failure share an error path with a data problem.</a:t>
            </a:r>
          </a:p>
          <a:p>
            <a:pPr marL="285750" indent="-285750" algn="just">
              <a:spcAft>
                <a:spcPts val="1200"/>
              </a:spcAft>
              <a:buFont typeface="Arial" panose="020B0604020202020204" pitchFamily="34" charset="0"/>
              <a:buChar char="•"/>
            </a:pPr>
            <a:r>
              <a:rPr lang="en-MY" sz="1800" b="1" i="0" dirty="0">
                <a:solidFill>
                  <a:schemeClr val="tx1"/>
                </a:solidFill>
                <a:effectLst/>
                <a:latin typeface="+mn-lt"/>
              </a:rPr>
              <a:t>Some documents cannot be rescued by any model.</a:t>
            </a:r>
            <a:r>
              <a:rPr lang="en-MY" sz="1800" b="0" i="0" dirty="0">
                <a:solidFill>
                  <a:schemeClr val="tx1"/>
                </a:solidFill>
                <a:effectLst/>
                <a:latin typeface="+mn-lt"/>
              </a:rPr>
              <a:t> Two PDFs are not valid PDFs at all — no /Root object. OCR and vision are equally useless. The honest product answer is to ask the sender to resend, which is exactly what the reference answer expects.</a:t>
            </a:r>
          </a:p>
          <a:p>
            <a:pPr marL="285750" indent="-285750" algn="just">
              <a:spcAft>
                <a:spcPts val="1200"/>
              </a:spcAft>
              <a:buFont typeface="Arial" panose="020B0604020202020204" pitchFamily="34" charset="0"/>
              <a:buChar char="•"/>
            </a:pPr>
            <a:r>
              <a:rPr lang="en-MY" sz="1800" b="1" i="0" dirty="0">
                <a:solidFill>
                  <a:schemeClr val="tx1"/>
                </a:solidFill>
                <a:effectLst/>
                <a:latin typeface="+mn-lt"/>
              </a:rPr>
              <a:t>A read-only deployment target.</a:t>
            </a:r>
            <a:r>
              <a:rPr lang="en-MY" sz="1800" b="0" i="0" dirty="0">
                <a:solidFill>
                  <a:schemeClr val="tx1"/>
                </a:solidFill>
                <a:effectLst/>
                <a:latin typeface="+mn-lt"/>
              </a:rPr>
              <a:t> </a:t>
            </a:r>
            <a:r>
              <a:rPr lang="en-MY" sz="1800" b="0" i="0" dirty="0" err="1">
                <a:solidFill>
                  <a:schemeClr val="tx1"/>
                </a:solidFill>
                <a:effectLst/>
                <a:latin typeface="+mn-lt"/>
              </a:rPr>
              <a:t>Vercel</a:t>
            </a:r>
            <a:r>
              <a:rPr lang="en-MY" sz="1800" b="0" i="0" dirty="0">
                <a:solidFill>
                  <a:schemeClr val="tx1"/>
                </a:solidFill>
                <a:effectLst/>
                <a:latin typeface="+mn-lt"/>
              </a:rPr>
              <a:t> cannot persist clerk decisions or host the organizer's attachments, and the attachments are not ours to publish. The interface degrades explicitly: it shows the extracted text and says why the original is unavailable.</a:t>
            </a:r>
          </a:p>
          <a:p>
            <a:pPr marL="285750" indent="-285750" algn="just">
              <a:spcAft>
                <a:spcPts val="1200"/>
              </a:spcAft>
              <a:buFont typeface="Arial" panose="020B0604020202020204" pitchFamily="34" charset="0"/>
              <a:buChar char="•"/>
            </a:pPr>
            <a:r>
              <a:rPr lang="en-MY" sz="1800" b="1" i="0" dirty="0">
                <a:solidFill>
                  <a:schemeClr val="tx1"/>
                </a:solidFill>
                <a:effectLst/>
                <a:latin typeface="+mn-lt"/>
              </a:rPr>
              <a:t>Payload weight.</a:t>
            </a:r>
            <a:r>
              <a:rPr lang="en-MY" sz="1800" b="0" i="0" dirty="0">
                <a:solidFill>
                  <a:schemeClr val="tx1"/>
                </a:solidFill>
                <a:effectLst/>
                <a:latin typeface="+mn-lt"/>
              </a:rPr>
              <a:t> Embedding every body and every extracted text sent 1.1 MB to the browser on the inbox. A slim projection for list pages brought it to 258 KB without touching the detail pages.</a:t>
            </a:r>
            <a:endParaRPr lang="en-MY" sz="1200" b="0" i="0" dirty="0">
              <a:solidFill>
                <a:srgbClr val="1F2328"/>
              </a:solidFill>
              <a:effectLst/>
              <a:latin typeface="Mona Sans VF"/>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0972800" cy="502920"/>
          </a:xfrm>
          <a:prstGeom prst="rect">
            <a:avLst/>
          </a:prstGeom>
          <a:noFill/>
        </p:spPr>
        <p:txBody>
          <a:bodyPr wrap="square">
            <a:spAutoFit/>
          </a:bodyPr>
          <a:lstStyle/>
          <a:p>
            <a:pPr algn="l">
              <a:spcAft>
                <a:spcPts val="600"/>
              </a:spcAft>
            </a:pPr>
            <a:r>
              <a:rPr sz="2800" b="1">
                <a:solidFill>
                  <a:srgbClr val="FFFFFF"/>
                </a:solidFill>
                <a:latin typeface="Calibri"/>
              </a:rPr>
              <a:t>Future Roadmap</a:t>
            </a:r>
          </a:p>
        </p:txBody>
      </p:sp>
      <p:sp>
        <p:nvSpPr>
          <p:cNvPr id="4" name="TextBox 3"/>
          <p:cNvSpPr txBox="1"/>
          <p:nvPr/>
        </p:nvSpPr>
        <p:spPr>
          <a:xfrm>
            <a:off x="457200" y="1234440"/>
            <a:ext cx="10972800" cy="365760"/>
          </a:xfrm>
          <a:prstGeom prst="rect">
            <a:avLst/>
          </a:prstGeom>
          <a:noFill/>
        </p:spPr>
        <p:txBody>
          <a:bodyPr wrap="square">
            <a:spAutoFit/>
          </a:bodyPr>
          <a:lstStyle/>
          <a:p>
            <a:pPr algn="l">
              <a:spcAft>
                <a:spcPts val="600"/>
              </a:spcAft>
            </a:pPr>
            <a:r>
              <a:rPr sz="1400" b="0">
                <a:solidFill>
                  <a:srgbClr val="4A5568"/>
                </a:solidFill>
                <a:latin typeface="Calibri"/>
              </a:rPr>
              <a:t>Required section</a:t>
            </a:r>
          </a:p>
        </p:txBody>
      </p:sp>
      <p:sp>
        <p:nvSpPr>
          <p:cNvPr id="5" name="Rectangle 4"/>
          <p:cNvSpPr/>
          <p:nvPr/>
        </p:nvSpPr>
        <p:spPr>
          <a:xfrm>
            <a:off x="548640" y="1828800"/>
            <a:ext cx="1106424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828800"/>
            <a:ext cx="137160" cy="1097280"/>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057400"/>
            <a:ext cx="10424160" cy="731520"/>
          </a:xfrm>
          <a:prstGeom prst="rect">
            <a:avLst/>
          </a:prstGeom>
          <a:noFill/>
        </p:spPr>
        <p:txBody>
          <a:bodyPr wrap="square">
            <a:spAutoFit/>
          </a:bodyPr>
          <a:lstStyle/>
          <a:p>
            <a:pPr algn="l">
              <a:spcAft>
                <a:spcPts val="600"/>
              </a:spcAft>
            </a:pPr>
            <a:r>
              <a:rPr sz="1800" b="1">
                <a:solidFill>
                  <a:srgbClr val="0B1F3A"/>
                </a:solidFill>
                <a:latin typeface="Calibri"/>
              </a:rPr>
              <a:t>Next (days)</a:t>
            </a:r>
          </a:p>
          <a:p>
            <a:pPr algn="l">
              <a:spcAft>
                <a:spcPts val="600"/>
              </a:spcAft>
            </a:pPr>
            <a:r>
              <a:rPr sz="1500" b="0">
                <a:solidFill>
                  <a:srgbClr val="1C1C1C"/>
                </a:solidFill>
                <a:latin typeface="Calibri"/>
              </a:rPr>
              <a:t>Postgres for shared audited decisions · Outlook ingest as background worker</a:t>
            </a:r>
          </a:p>
        </p:txBody>
      </p:sp>
      <p:sp>
        <p:nvSpPr>
          <p:cNvPr id="8" name="Rectangle 7"/>
          <p:cNvSpPr/>
          <p:nvPr/>
        </p:nvSpPr>
        <p:spPr>
          <a:xfrm>
            <a:off x="548640" y="3108960"/>
            <a:ext cx="1106424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3108960"/>
            <a:ext cx="137160" cy="1097280"/>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337560"/>
            <a:ext cx="10424160" cy="731520"/>
          </a:xfrm>
          <a:prstGeom prst="rect">
            <a:avLst/>
          </a:prstGeom>
          <a:noFill/>
        </p:spPr>
        <p:txBody>
          <a:bodyPr wrap="square">
            <a:spAutoFit/>
          </a:bodyPr>
          <a:lstStyle/>
          <a:p>
            <a:pPr algn="l">
              <a:spcAft>
                <a:spcPts val="600"/>
              </a:spcAft>
            </a:pPr>
            <a:r>
              <a:rPr sz="1800" b="1">
                <a:solidFill>
                  <a:srgbClr val="0B1F3A"/>
                </a:solidFill>
                <a:latin typeface="Calibri"/>
              </a:rPr>
              <a:t>Then (weeks)</a:t>
            </a:r>
          </a:p>
          <a:p>
            <a:pPr algn="l">
              <a:spcAft>
                <a:spcPts val="600"/>
              </a:spcAft>
            </a:pPr>
            <a:r>
              <a:rPr sz="1500" b="0">
                <a:solidFill>
                  <a:srgbClr val="1C1C1C"/>
                </a:solidFill>
                <a:latin typeface="Calibri"/>
              </a:rPr>
              <a:t>Learn from clerk corrections to tighten normalisers · invoice &amp; packing-list comparisons</a:t>
            </a:r>
          </a:p>
        </p:txBody>
      </p:sp>
      <p:sp>
        <p:nvSpPr>
          <p:cNvPr id="11" name="Rectangle 10"/>
          <p:cNvSpPr/>
          <p:nvPr/>
        </p:nvSpPr>
        <p:spPr>
          <a:xfrm>
            <a:off x="548640" y="4389120"/>
            <a:ext cx="1106424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4389120"/>
            <a:ext cx="137160" cy="1097280"/>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617720"/>
            <a:ext cx="10424160" cy="731520"/>
          </a:xfrm>
          <a:prstGeom prst="rect">
            <a:avLst/>
          </a:prstGeom>
          <a:noFill/>
        </p:spPr>
        <p:txBody>
          <a:bodyPr wrap="square">
            <a:spAutoFit/>
          </a:bodyPr>
          <a:lstStyle/>
          <a:p>
            <a:pPr algn="l">
              <a:spcAft>
                <a:spcPts val="600"/>
              </a:spcAft>
            </a:pPr>
            <a:r>
              <a:rPr sz="1800" b="1">
                <a:solidFill>
                  <a:srgbClr val="0B1F3A"/>
                </a:solidFill>
                <a:latin typeface="Calibri"/>
              </a:rPr>
              <a:t>Later</a:t>
            </a:r>
          </a:p>
          <a:p>
            <a:pPr algn="l">
              <a:spcAft>
                <a:spcPts val="600"/>
              </a:spcAft>
            </a:pPr>
            <a:r>
              <a:rPr sz="1500" b="0">
                <a:solidFill>
                  <a:srgbClr val="1C1C1C"/>
                </a:solidFill>
                <a:latin typeface="Calibri"/>
              </a:rPr>
              <a:t>Run the check when SI is submitted — catch mismatch before a draft BL exists · carrier API</a:t>
            </a:r>
          </a:p>
        </p:txBody>
      </p:sp>
      <p:sp>
        <p:nvSpPr>
          <p:cNvPr id="14" name="TextBox 13"/>
          <p:cNvSpPr txBox="1"/>
          <p:nvPr/>
        </p:nvSpPr>
        <p:spPr>
          <a:xfrm>
            <a:off x="548640" y="5852160"/>
            <a:ext cx="10972800" cy="457200"/>
          </a:xfrm>
          <a:prstGeom prst="rect">
            <a:avLst/>
          </a:prstGeom>
          <a:noFill/>
        </p:spPr>
        <p:txBody>
          <a:bodyPr wrap="square">
            <a:spAutoFit/>
          </a:bodyPr>
          <a:lstStyle/>
          <a:p>
            <a:pPr algn="l">
              <a:spcAft>
                <a:spcPts val="600"/>
              </a:spcAft>
            </a:pPr>
            <a:r>
              <a:rPr sz="1400" b="1">
                <a:solidFill>
                  <a:srgbClr val="C45C26"/>
                </a:solidFill>
                <a:latin typeface="Calibri"/>
              </a:rPr>
              <a:t>Adoptable: slots into the existing mailbox · no customer change · failure mode is “ask a human”.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Box 1"/>
          <p:cNvSpPr txBox="1"/>
          <p:nvPr/>
        </p:nvSpPr>
        <p:spPr>
          <a:xfrm>
            <a:off x="640080" y="2194560"/>
            <a:ext cx="10972800" cy="1828800"/>
          </a:xfrm>
          <a:prstGeom prst="rect">
            <a:avLst/>
          </a:prstGeom>
          <a:noFill/>
        </p:spPr>
        <p:txBody>
          <a:bodyPr wrap="square">
            <a:spAutoFit/>
          </a:bodyPr>
          <a:lstStyle/>
          <a:p>
            <a:pPr algn="l">
              <a:spcAft>
                <a:spcPts val="600"/>
              </a:spcAft>
            </a:pPr>
            <a:r>
              <a:rPr sz="4400" b="1">
                <a:solidFill>
                  <a:srgbClr val="FFFFFF"/>
                </a:solidFill>
                <a:latin typeface="Calibri"/>
              </a:rPr>
              <a:t>Thank you</a:t>
            </a:r>
          </a:p>
          <a:p>
            <a:pPr algn="l">
              <a:spcAft>
                <a:spcPts val="600"/>
              </a:spcAft>
            </a:pPr>
            <a:r>
              <a:rPr sz="1800" b="0">
                <a:solidFill>
                  <a:srgbClr val="FFFFFF"/>
                </a:solidFill>
                <a:latin typeface="Calibri"/>
              </a:rPr>
              <a:t>CargoLens — read with AI when needed · decide with code · confirm with a clerk</a:t>
            </a:r>
          </a:p>
        </p:txBody>
      </p:sp>
      <p:sp>
        <p:nvSpPr>
          <p:cNvPr id="3" name="TextBox 2"/>
          <p:cNvSpPr txBox="1"/>
          <p:nvPr/>
        </p:nvSpPr>
        <p:spPr>
          <a:xfrm>
            <a:off x="640080" y="5029200"/>
            <a:ext cx="10972800" cy="914400"/>
          </a:xfrm>
          <a:prstGeom prst="rect">
            <a:avLst/>
          </a:prstGeom>
          <a:noFill/>
        </p:spPr>
        <p:txBody>
          <a:bodyPr wrap="square">
            <a:spAutoFit/>
          </a:bodyPr>
          <a:lstStyle/>
          <a:p>
            <a:pPr algn="l">
              <a:spcAft>
                <a:spcPts val="600"/>
              </a:spcAft>
            </a:pPr>
            <a:r>
              <a:rPr sz="1600" b="0">
                <a:solidFill>
                  <a:srgbClr val="FFFFFF"/>
                </a:solidFill>
                <a:latin typeface="Calibri"/>
              </a:rPr>
              <a:t>https://cargolens-peach.vercel.app/</a:t>
            </a:r>
          </a:p>
          <a:p>
            <a:pPr algn="l">
              <a:spcAft>
                <a:spcPts val="600"/>
              </a:spcAft>
            </a:pPr>
            <a:r>
              <a:rPr sz="1600" b="0">
                <a:solidFill>
                  <a:srgbClr val="FFFFFF"/>
                </a:solidFill>
                <a:latin typeface="Calibri"/>
              </a:rPr>
              <a:t>https://github.com/quekyuxuan/cargolens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1308</Words>
  <Application>Microsoft Office PowerPoint</Application>
  <PresentationFormat>Widescreen</PresentationFormat>
  <Paragraphs>94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Mona Sans VF</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yu xuan</dc:creator>
  <cp:keywords/>
  <dc:description>generated using python-pptx</dc:description>
  <cp:lastModifiedBy>QUEK YU XUAN</cp:lastModifiedBy>
  <cp:revision>3</cp:revision>
  <dcterms:created xsi:type="dcterms:W3CDTF">2013-01-27T09:14:16Z</dcterms:created>
  <dcterms:modified xsi:type="dcterms:W3CDTF">2026-09-21T10:07:35Z</dcterms:modified>
  <cp:category/>
</cp:coreProperties>
</file>